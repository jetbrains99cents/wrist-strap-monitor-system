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67" r:id="rId4"/>
    <p:sldId id="259" r:id="rId5"/>
    <p:sldId id="260" r:id="rId6"/>
    <p:sldId id="268" r:id="rId7"/>
    <p:sldId id="256" r:id="rId8"/>
    <p:sldId id="273" r:id="rId9"/>
    <p:sldId id="274" r:id="rId10"/>
    <p:sldId id="277" r:id="rId11"/>
    <p:sldId id="279" r:id="rId12"/>
    <p:sldId id="280" r:id="rId13"/>
    <p:sldId id="281" r:id="rId14"/>
    <p:sldId id="283" r:id="rId15"/>
    <p:sldId id="285" r:id="rId16"/>
    <p:sldId id="284" r:id="rId17"/>
    <p:sldId id="286" r:id="rId18"/>
    <p:sldId id="287" r:id="rId19"/>
    <p:sldId id="288" r:id="rId20"/>
    <p:sldId id="278" r:id="rId21"/>
    <p:sldId id="289" r:id="rId22"/>
    <p:sldId id="29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74" autoAdjust="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7D855-EBCD-4730-94D9-6118940A5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B6DA0-4724-4B74-ACD7-70B321D65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A9DB-101A-4C67-BAE9-71ADF890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E5671-72D5-48DA-8C52-AA2507A4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894AE-5FEC-4621-910D-BBF36B7F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6C27-53C8-4FBA-A4AF-6B91C9BB0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B7574-5170-4714-8523-59D8F22BF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7C057-7BF1-4D5F-90A8-AEF31DD3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3EA07-9E62-47F4-B4AF-8711520B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B6DFB-129E-4ABF-A9E8-348A2CB6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7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08D7-3491-4765-8BF3-AF7EDA37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1FAAD-2D0E-4184-8AA9-2E4E3C6B0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4A64C-C5B6-4D7C-A2AE-B59DF8D3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B6769-969B-4300-9D2F-FF655E9FD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D29A6-F0CF-4990-973A-351E0D472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6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DC7D-BC91-4612-ACF0-2281D42E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DBC27-3B18-4565-8893-F3A742402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D949F-0B0A-470E-8ED3-537B05F43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3A225-168E-4C3E-828C-BF5286B2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54213-84FC-4150-8834-8AC635AD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D4CDF-3098-4904-B5C7-46807800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DE1E-E919-4001-AD43-EB3544BA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A9D5F-0EDA-49FB-8040-7B2604DDF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58E9E-B454-4398-B41A-668065656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57295-C4AB-4552-BEA9-F0F2641BE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F5CBB-2D3D-43FC-9518-D4B98FBE6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87E9F-8E03-40A6-B599-5DA41380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0E1FBF-C28B-49BA-946D-DEC6DDABD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97181-B3F7-46DC-9FFF-AEE6ACB8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EBF91-254D-4AB7-88B8-2834B084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8954DC-D3D5-4915-B565-A9E65884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E8D67-A6B3-4B38-9100-C9D0805D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A986-D719-493F-8C43-8F565ADB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02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0D9B5-E5A5-433A-A12F-DAB657D3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095B15-AEF4-41AC-AC1A-1D9A2738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B7FCF-EF0F-4305-8887-811B6DFC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90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2BD36-A534-411B-9337-27501ADA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D73F7-4018-4125-9071-C776DA3EB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ADC9E-87CE-4195-8565-BD6309EFD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70E00-6069-4683-91DF-162750246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BC930-90AC-4D89-8622-86484FD99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61CC9-E9B8-49D3-9437-AF566AF4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3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284D-0E13-4C5A-A42A-321D7C49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B99CE5-938D-43A1-A69D-FE46125E7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B71CD-75CF-4EDD-A986-769740F2B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D40B3-10B5-4B42-B517-AE0C17FB0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22428-E1A2-4DDA-A329-ACC897F4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FD9A4-7E2C-4D39-B000-9DC0DB638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57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FA91-7E22-4358-94EE-44708750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0DAC4-A0D5-4BAB-A603-D77693AFE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290F7-EC06-484C-A367-A0B89D38F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E45D0-970E-46CF-9D8E-AB6A04CBE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119DC-C057-4E15-8557-8CC0D3BC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34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C70081-BF41-425F-85D1-EDFD009EA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945B1-D488-47CC-AEEB-CDC4EE743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3BF2C-B80E-4BDF-8CEE-A8A06366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0CCF8-7BCF-4DB1-B803-92BA5899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E71C-C175-4486-A1DD-D833B275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95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75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68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94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67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17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420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576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2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71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683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02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74F665-1CCD-48F3-90C7-51EFB0FE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C03D7-613D-4DDC-9D50-8641947E0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4EDDD-C0AD-4FCF-B62C-4B5D18AED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2F5DE-EBA5-4A4B-8CEF-D4D7EFFD7849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4AED5-CE6C-4DEF-B960-21FA5ADBB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F7FF4-2002-4734-A702-F2F7C12E7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A41A5-45BA-45B8-B647-54919DE5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56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BB917-2665-4DBE-9E6A-7E7259272A12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E9C42-B9A3-481C-928D-DF2644A9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84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file:///\\172.25.163.111\dp_technical\RnD\Wrist%20Strap%20Monitor%20System\B&#225;o%20c&#225;o%20ti&#7871;n%20&#273;&#7897;%20-%20H&#7879;%20th&#7889;ng%20gi&#225;m%20s&#225;t%20&#7893;%20x&#7843;%20t&#297;nh%20&#273;i&#7879;n.ppt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172.16.9.183:3000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hyperlink" Target="mailto:wrist.strap.operator@vn.sharp-world.com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hyperlink" Target="https://drive.google.com/file/d/1Gs870uiW9dbneQ2CR5U4FgwXlYd73y4z/view?usp=sharing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hyperlink" Target="https://drive.google.com/file/d/1JlYu-Gcy1WZD5CZjC2hwY6MBPurnjt_i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0ACDFE2-02EE-4D6C-83ED-B3E689C4E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9D12834-4796-431A-83AD-65B061CDA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8917" y="60026"/>
            <a:ext cx="6154163" cy="374187"/>
          </a:xfrm>
        </p:spPr>
        <p:txBody>
          <a:bodyPr>
            <a:noAutofit/>
          </a:bodyPr>
          <a:lstStyle/>
          <a:p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Báo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cáo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tiến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độ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thực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hiện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hệ thống giám sát ổ xả tĩnh điện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F89B6A6-E2D9-4B1D-A3A8-78984A810EA6}"/>
              </a:ext>
            </a:extLst>
          </p:cNvPr>
          <p:cNvSpPr txBox="1">
            <a:spLocks/>
          </p:cNvSpPr>
          <p:nvPr/>
        </p:nvSpPr>
        <p:spPr>
          <a:xfrm>
            <a:off x="9037982" y="487207"/>
            <a:ext cx="3154018" cy="3180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Ngày cập nhật: 26/02/2025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3667996-02DC-483B-B073-D3B21E39A30F}"/>
              </a:ext>
            </a:extLst>
          </p:cNvPr>
          <p:cNvSpPr txBox="1">
            <a:spLocks/>
          </p:cNvSpPr>
          <p:nvPr/>
        </p:nvSpPr>
        <p:spPr>
          <a:xfrm>
            <a:off x="0" y="805260"/>
            <a:ext cx="2033230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Tiến độ thực hiện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C037DFA-085C-45DE-9DF7-1BA1D743B4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5068" y="570946"/>
            <a:ext cx="8981862" cy="603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3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0ACDFE2-02EE-4D6C-83ED-B3E689C4E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9D12834-4796-431A-83AD-65B061CDA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8918" y="60026"/>
            <a:ext cx="6154163" cy="374187"/>
          </a:xfrm>
        </p:spPr>
        <p:txBody>
          <a:bodyPr>
            <a:noAutofit/>
          </a:bodyPr>
          <a:lstStyle/>
          <a:p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Báo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cáo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tiến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độ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thực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hiện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hệ thống giám sát ổ xả tĩnh điện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3667996-02DC-483B-B073-D3B21E39A30F}"/>
              </a:ext>
            </a:extLst>
          </p:cNvPr>
          <p:cNvSpPr txBox="1">
            <a:spLocks/>
          </p:cNvSpPr>
          <p:nvPr/>
        </p:nvSpPr>
        <p:spPr>
          <a:xfrm>
            <a:off x="0" y="805260"/>
            <a:ext cx="2033230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Tiến độ thực hiện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EAF8E3F-7ADF-43D6-8D33-248C52D39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8674"/>
            <a:ext cx="12192000" cy="536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04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0ACDFE2-02EE-4D6C-83ED-B3E689C4E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9D12834-4796-431A-83AD-65B061CDA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8918" y="113020"/>
            <a:ext cx="6154163" cy="374187"/>
          </a:xfrm>
        </p:spPr>
        <p:txBody>
          <a:bodyPr>
            <a:noAutofit/>
          </a:bodyPr>
          <a:lstStyle/>
          <a:p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Báo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cáo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tiến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độ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thực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hiện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hệ thống giám sát ổ xả tĩnh điện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D65126-3FC6-4F3E-BA34-BAF3D694E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940144"/>
              </p:ext>
            </p:extLst>
          </p:nvPr>
        </p:nvGraphicFramePr>
        <p:xfrm>
          <a:off x="152155" y="1179447"/>
          <a:ext cx="11870512" cy="18698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78067">
                  <a:extLst>
                    <a:ext uri="{9D8B030D-6E8A-4147-A177-3AD203B41FA5}">
                      <a16:colId xmlns:a16="http://schemas.microsoft.com/office/drawing/2014/main" val="3999244456"/>
                    </a:ext>
                  </a:extLst>
                </a:gridCol>
                <a:gridCol w="1682045">
                  <a:extLst>
                    <a:ext uri="{9D8B030D-6E8A-4147-A177-3AD203B41FA5}">
                      <a16:colId xmlns:a16="http://schemas.microsoft.com/office/drawing/2014/main" val="2388194019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804078144"/>
                    </a:ext>
                  </a:extLst>
                </a:gridCol>
              </a:tblGrid>
              <a:tr h="37397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Ghi chú trong quá trình phát triển dự án</a:t>
                      </a:r>
                      <a:endParaRPr lang="en-US" sz="16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860501"/>
                  </a:ext>
                </a:extLst>
              </a:tr>
              <a:tr h="373972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Nội dung</a:t>
                      </a:r>
                      <a:endParaRPr lang="en-US" sz="1600" b="1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Thời gian</a:t>
                      </a:r>
                      <a:endParaRPr lang="en-US" sz="1600" b="1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Ghi chú</a:t>
                      </a:r>
                      <a:endParaRPr lang="en-US" sz="1600" b="1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259172"/>
                  </a:ext>
                </a:extLst>
              </a:tr>
              <a:tr h="373972">
                <a:tc>
                  <a:txBody>
                    <a:bodyPr/>
                    <a:lstStyle/>
                    <a:p>
                      <a:endParaRPr lang="en-US" sz="16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6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022684"/>
                  </a:ext>
                </a:extLst>
              </a:tr>
              <a:tr h="373972">
                <a:tc>
                  <a:txBody>
                    <a:bodyPr/>
                    <a:lstStyle/>
                    <a:p>
                      <a:endParaRPr lang="en-US" sz="16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6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887496"/>
                  </a:ext>
                </a:extLst>
              </a:tr>
              <a:tr h="373972">
                <a:tc>
                  <a:txBody>
                    <a:bodyPr/>
                    <a:lstStyle/>
                    <a:p>
                      <a:endParaRPr lang="en-US" sz="16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6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966152"/>
                  </a:ext>
                </a:extLst>
              </a:tr>
            </a:tbl>
          </a:graphicData>
        </a:graphic>
      </p:graphicFrame>
      <p:sp>
        <p:nvSpPr>
          <p:cNvPr id="5" name="Subtitle 2">
            <a:extLst>
              <a:ext uri="{FF2B5EF4-FFF2-40B4-BE49-F238E27FC236}">
                <a16:creationId xmlns:a16="http://schemas.microsoft.com/office/drawing/2014/main" id="{8FCD769D-F79E-4D7C-9C5B-3C2D3100933B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</p:spTree>
    <p:extLst>
      <p:ext uri="{BB962C8B-B14F-4D97-AF65-F5344CB8AC3E}">
        <p14:creationId xmlns:p14="http://schemas.microsoft.com/office/powerpoint/2010/main" val="694525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0ACDFE2-02EE-4D6C-83ED-B3E689C4E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9D12834-4796-431A-83AD-65B061CDA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8918" y="63422"/>
            <a:ext cx="6154163" cy="374187"/>
          </a:xfrm>
        </p:spPr>
        <p:txBody>
          <a:bodyPr>
            <a:noAutofit/>
          </a:bodyPr>
          <a:lstStyle/>
          <a:p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Báo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cáo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tiến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độ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thực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hiện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hệ thống giám sát ổ xả tĩnh điện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1F394C6-CC0E-4601-A55A-EEEC7A3AD2DF}"/>
              </a:ext>
            </a:extLst>
          </p:cNvPr>
          <p:cNvSpPr txBox="1">
            <a:spLocks/>
          </p:cNvSpPr>
          <p:nvPr/>
        </p:nvSpPr>
        <p:spPr>
          <a:xfrm>
            <a:off x="0" y="1142778"/>
            <a:ext cx="2291644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Mục đích hệ thống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45BA-549D-44B5-9B25-9E9D66F7E84B}"/>
              </a:ext>
            </a:extLst>
          </p:cNvPr>
          <p:cNvSpPr txBox="1"/>
          <p:nvPr/>
        </p:nvSpPr>
        <p:spPr>
          <a:xfrm>
            <a:off x="214488" y="1627272"/>
            <a:ext cx="7123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Theo dõi từ xa việc đeo/không đeo vòng xả tĩnh điện của ng</a:t>
            </a:r>
            <a:r>
              <a:rPr kumimoji="0" lang="vi-V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ư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ời thao tác tại hiện tr</a:t>
            </a:r>
            <a:r>
              <a:rPr kumimoji="0" lang="vi-V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ư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ờng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635FF70-0035-44BA-9BAC-9CC3523020D1}"/>
              </a:ext>
            </a:extLst>
          </p:cNvPr>
          <p:cNvSpPr txBox="1">
            <a:spLocks/>
          </p:cNvSpPr>
          <p:nvPr/>
        </p:nvSpPr>
        <p:spPr>
          <a:xfrm>
            <a:off x="0" y="3628229"/>
            <a:ext cx="2133600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Yêu cầu hệ thống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E61E3-8F2B-4151-98A0-B251D62BF574}"/>
              </a:ext>
            </a:extLst>
          </p:cNvPr>
          <p:cNvSpPr txBox="1"/>
          <p:nvPr/>
        </p:nvSpPr>
        <p:spPr>
          <a:xfrm>
            <a:off x="214485" y="4031600"/>
            <a:ext cx="8161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Lấy đ</a:t>
            </a:r>
            <a:r>
              <a:rPr kumimoji="0" lang="vi-V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ư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ợc dữ liệu ra từ hộp giám sát vòng xả tĩnh điện, với 2 trạng thái: Đeo hoặc không đeo vòng xả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B26DC6-3F59-4D6D-B34D-4961D3487928}"/>
              </a:ext>
            </a:extLst>
          </p:cNvPr>
          <p:cNvSpPr txBox="1"/>
          <p:nvPr/>
        </p:nvSpPr>
        <p:spPr>
          <a:xfrm>
            <a:off x="214485" y="4444970"/>
            <a:ext cx="6671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Có trang web để theo dõi vị trí gắn các hộp giám sát vòng xả tĩnh điện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23CBFC-9E4C-455A-8FB9-A290892E141B}"/>
              </a:ext>
            </a:extLst>
          </p:cNvPr>
          <p:cNvSpPr txBox="1"/>
          <p:nvPr/>
        </p:nvSpPr>
        <p:spPr>
          <a:xfrm>
            <a:off x="214485" y="4852820"/>
            <a:ext cx="1184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Trang web phải hiển thị đ</a:t>
            </a:r>
            <a:r>
              <a:rPr kumimoji="0" lang="vi-V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ư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ợc trạng thái đeo/không đeo vòng xả tĩnh điện của ng</a:t>
            </a:r>
            <a:r>
              <a:rPr kumimoji="0" lang="vi-V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ư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ời thao tác ở hiện tr</a:t>
            </a:r>
            <a:r>
              <a:rPr kumimoji="0" lang="vi-V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ư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ờng, ứng với từng hộp giám sát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0E9888-43CE-4C68-ABFA-A9421C54DE0A}"/>
              </a:ext>
            </a:extLst>
          </p:cNvPr>
          <p:cNvSpPr txBox="1"/>
          <p:nvPr/>
        </p:nvSpPr>
        <p:spPr>
          <a:xfrm>
            <a:off x="214486" y="5260670"/>
            <a:ext cx="4651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Hệ thống phải cho phép thêm mới, xóa các hộp giám sát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B33A45-EC18-4E75-8FC8-BA7786170FEB}"/>
              </a:ext>
            </a:extLst>
          </p:cNvPr>
          <p:cNvSpPr txBox="1"/>
          <p:nvPr/>
        </p:nvSpPr>
        <p:spPr>
          <a:xfrm>
            <a:off x="214485" y="5674832"/>
            <a:ext cx="5305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Dữ liệu giám sát phải đ</a:t>
            </a:r>
            <a:r>
              <a:rPr kumimoji="0" lang="vi-V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ư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ợc cập nhật tự động, theo thời gian thực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E15913-AE73-4960-995F-A414A3B51223}"/>
              </a:ext>
            </a:extLst>
          </p:cNvPr>
          <p:cNvSpPr txBox="1"/>
          <p:nvPr/>
        </p:nvSpPr>
        <p:spPr>
          <a:xfrm>
            <a:off x="214485" y="6088138"/>
            <a:ext cx="9922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Hệ thống cảnh báo tự động khi phát hiện không đeo vòng xả trong ca làm việc, với thời gian ca làm đ</a:t>
            </a:r>
            <a:r>
              <a:rPr kumimoji="0" lang="vi-V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ư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ợc cho phép cài đặt</a:t>
            </a:r>
          </a:p>
        </p:txBody>
      </p:sp>
    </p:spTree>
    <p:extLst>
      <p:ext uri="{BB962C8B-B14F-4D97-AF65-F5344CB8AC3E}">
        <p14:creationId xmlns:p14="http://schemas.microsoft.com/office/powerpoint/2010/main" val="3139434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0ACDFE2-02EE-4D6C-83ED-B3E689C4E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9D12834-4796-431A-83AD-65B061CDA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8918" y="63422"/>
            <a:ext cx="6154163" cy="374187"/>
          </a:xfrm>
        </p:spPr>
        <p:txBody>
          <a:bodyPr>
            <a:noAutofit/>
          </a:bodyPr>
          <a:lstStyle/>
          <a:p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Báo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cáo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tiến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độ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thực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hiện</a:t>
            </a:r>
            <a:r>
              <a:rPr lang="en-US"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hệ thống giám sát ổ xả tĩnh điện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1F394C6-CC0E-4601-A55A-EEEC7A3AD2DF}"/>
              </a:ext>
            </a:extLst>
          </p:cNvPr>
          <p:cNvSpPr txBox="1">
            <a:spLocks/>
          </p:cNvSpPr>
          <p:nvPr/>
        </p:nvSpPr>
        <p:spPr>
          <a:xfrm>
            <a:off x="0" y="1527591"/>
            <a:ext cx="2910980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phần c</a:t>
            </a:r>
            <a:r>
              <a:rPr lang="en-US" sz="1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ứng hệ thống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635FF70-0035-44BA-9BAC-9CC3523020D1}"/>
              </a:ext>
            </a:extLst>
          </p:cNvPr>
          <p:cNvSpPr txBox="1">
            <a:spLocks/>
          </p:cNvSpPr>
          <p:nvPr/>
        </p:nvSpPr>
        <p:spPr>
          <a:xfrm>
            <a:off x="0" y="1940961"/>
            <a:ext cx="3707934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Nguyên lý hoạt động của hệ thống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AF31047-B706-40DF-A2BD-07FDF091D13D}"/>
              </a:ext>
            </a:extLst>
          </p:cNvPr>
          <p:cNvSpPr txBox="1">
            <a:spLocks/>
          </p:cNvSpPr>
          <p:nvPr/>
        </p:nvSpPr>
        <p:spPr>
          <a:xfrm>
            <a:off x="0" y="1114221"/>
            <a:ext cx="2910980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hệ thống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D91B2A-DB98-4002-895F-30F081929936}"/>
              </a:ext>
            </a:extLst>
          </p:cNvPr>
          <p:cNvSpPr txBox="1"/>
          <p:nvPr/>
        </p:nvSpPr>
        <p:spPr>
          <a:xfrm>
            <a:off x="0" y="2354331"/>
            <a:ext cx="11434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 mô tả tổng quát của dự án đ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ợc l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 tại: 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 action="ppaction://hlinkpres?slideindex=1&amp;slidetitle="/>
              </a:rPr>
              <a:t>\\172.25.163.111\dp_technical\RnD\Wrist Strap Monitor System\Báo cáo tiến độ - Hệ thống giám sát ổ xả tĩnh điện.pptx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AC4E56-E888-4D78-8684-781DCF19EE43}"/>
              </a:ext>
            </a:extLst>
          </p:cNvPr>
          <p:cNvSpPr txBox="1"/>
          <p:nvPr/>
        </p:nvSpPr>
        <p:spPr>
          <a:xfrm>
            <a:off x="0" y="3182703"/>
            <a:ext cx="11434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Báo cáo này tập trung vào phần hoàn thiện và chạy thử nghiệm của hệ thống giám sát vòng đeo xả tĩnh điện (giao diện dashboard)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166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9D4A3-6F7F-4B6F-B03E-F4E4AF138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8" y="1801884"/>
            <a:ext cx="5679163" cy="3433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7BB65F-0714-4A82-A0ED-50430612D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01884"/>
            <a:ext cx="5858128" cy="3433153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960B7-4EA9-4FAE-8D20-FE2EE988836C}"/>
              </a:ext>
            </a:extLst>
          </p:cNvPr>
          <p:cNvSpPr txBox="1"/>
          <p:nvPr/>
        </p:nvSpPr>
        <p:spPr>
          <a:xfrm>
            <a:off x="1717409" y="5418620"/>
            <a:ext cx="2377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sáng – Tiếng Việt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1A2DEC-1F92-47F1-9540-162D9986B171}"/>
              </a:ext>
            </a:extLst>
          </p:cNvPr>
          <p:cNvSpPr txBox="1"/>
          <p:nvPr/>
        </p:nvSpPr>
        <p:spPr>
          <a:xfrm>
            <a:off x="8435041" y="5418621"/>
            <a:ext cx="223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tối – Tiếng Việt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A8A1FA-03A9-4B86-B040-ED0EBEF2C5CA}"/>
              </a:ext>
            </a:extLst>
          </p:cNvPr>
          <p:cNvSpPr txBox="1"/>
          <p:nvPr/>
        </p:nvSpPr>
        <p:spPr>
          <a:xfrm>
            <a:off x="0" y="1312856"/>
            <a:ext cx="3808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chủ – Landing page (IoT Hub)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594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960B7-4EA9-4FAE-8D20-FE2EE988836C}"/>
              </a:ext>
            </a:extLst>
          </p:cNvPr>
          <p:cNvSpPr txBox="1"/>
          <p:nvPr/>
        </p:nvSpPr>
        <p:spPr>
          <a:xfrm>
            <a:off x="1767620" y="6437202"/>
            <a:ext cx="2377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sáng – Tiếng Anh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1A2DEC-1F92-47F1-9540-162D9986B171}"/>
              </a:ext>
            </a:extLst>
          </p:cNvPr>
          <p:cNvSpPr txBox="1"/>
          <p:nvPr/>
        </p:nvSpPr>
        <p:spPr>
          <a:xfrm>
            <a:off x="8190452" y="6437202"/>
            <a:ext cx="223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tối – Tiếng Anh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AD6409-EDD1-4C58-BD69-A0E211E34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2" y="3001718"/>
            <a:ext cx="5871140" cy="32734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1E49B5-FDDF-4BDD-91B5-203773DAA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4027" y="3001719"/>
            <a:ext cx="5800131" cy="32734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3808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chủ – Landing page (IoT Hub)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52400-070C-42CD-AC22-FD2FFDFC667C}"/>
              </a:ext>
            </a:extLst>
          </p:cNvPr>
          <p:cNvSpPr txBox="1"/>
          <p:nvPr/>
        </p:nvSpPr>
        <p:spPr>
          <a:xfrm>
            <a:off x="5932" y="1748891"/>
            <a:ext cx="2712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trò Landing page (IoT Hub):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07A32-9655-451B-869C-4A06C2CE2E0F}"/>
              </a:ext>
            </a:extLst>
          </p:cNvPr>
          <p:cNvSpPr txBox="1"/>
          <p:nvPr/>
        </p:nvSpPr>
        <p:spPr>
          <a:xfrm>
            <a:off x="47842" y="2157287"/>
            <a:ext cx="5597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Đ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ờng dẫn tập trung đến các hệ thống giám sát (dashboard) khác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CF7769-925E-4956-997D-24AB545B6017}"/>
              </a:ext>
            </a:extLst>
          </p:cNvPr>
          <p:cNvSpPr txBox="1"/>
          <p:nvPr/>
        </p:nvSpPr>
        <p:spPr>
          <a:xfrm>
            <a:off x="47841" y="2506844"/>
            <a:ext cx="6696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Cấp quản lý nắm đ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ợc có thể giám sát những gì liên quan tới hoạt động sản xuất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898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3808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chủ – Landing page (IoT Hub)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52400-070C-42CD-AC22-FD2FFDFC667C}"/>
              </a:ext>
            </a:extLst>
          </p:cNvPr>
          <p:cNvSpPr txBox="1"/>
          <p:nvPr/>
        </p:nvSpPr>
        <p:spPr>
          <a:xfrm>
            <a:off x="5932" y="1748891"/>
            <a:ext cx="5723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Những hệ thống giám sát (dashboard) hiện có và trong t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ơng lai: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07A32-9655-451B-869C-4A06C2CE2E0F}"/>
              </a:ext>
            </a:extLst>
          </p:cNvPr>
          <p:cNvSpPr txBox="1"/>
          <p:nvPr/>
        </p:nvSpPr>
        <p:spPr>
          <a:xfrm>
            <a:off x="-1" y="2158310"/>
            <a:ext cx="7762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Đã hoàn tất 1 phần hoặc toàn bộ, đang trong quá trình thử nghiệm và hoàn thiện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AE3E1A-E17A-49CE-B35D-0DD7C92B1DC0}"/>
              </a:ext>
            </a:extLst>
          </p:cNvPr>
          <p:cNvSpPr txBox="1"/>
          <p:nvPr/>
        </p:nvSpPr>
        <p:spPr>
          <a:xfrm>
            <a:off x="-1" y="3145153"/>
            <a:ext cx="7762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Đ</a:t>
            </a:r>
            <a:r>
              <a:rPr lang="en-US" sz="1400" b="1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ã đ</a:t>
            </a:r>
            <a:r>
              <a:rPr lang="vi-VN" sz="1400" b="1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 b="1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ợc lên kế hoạch, sẽ sớm có phiên bản thử nghiệm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D56A67-4C9D-4F2D-A204-2BB5792D4AE0}"/>
              </a:ext>
            </a:extLst>
          </p:cNvPr>
          <p:cNvSpPr txBox="1"/>
          <p:nvPr/>
        </p:nvSpPr>
        <p:spPr>
          <a:xfrm>
            <a:off x="-1317" y="4102965"/>
            <a:ext cx="7762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Đ</a:t>
            </a:r>
            <a:r>
              <a:rPr lang="en-US" sz="1400" b="1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ã đ</a:t>
            </a:r>
            <a:r>
              <a:rPr lang="vi-VN" sz="1400" b="1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 b="1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ợc lên kế hoạch, sẽ đ</a:t>
            </a:r>
            <a:r>
              <a:rPr lang="vi-VN" sz="1400" b="1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 b="1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ợc tiến hành trong thời gian gần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3748F8-CEAC-4387-92D1-8EB6723FA820}"/>
              </a:ext>
            </a:extLst>
          </p:cNvPr>
          <p:cNvSpPr txBox="1"/>
          <p:nvPr/>
        </p:nvSpPr>
        <p:spPr>
          <a:xfrm>
            <a:off x="531383" y="4564535"/>
            <a:ext cx="6696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Hệ thống giám sát robot chở hàng tự động (AGV)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BECB06-6BA4-49D7-B253-4523C30A1336}"/>
              </a:ext>
            </a:extLst>
          </p:cNvPr>
          <p:cNvGrpSpPr/>
          <p:nvPr/>
        </p:nvGrpSpPr>
        <p:grpSpPr>
          <a:xfrm>
            <a:off x="68813" y="2574335"/>
            <a:ext cx="6064086" cy="462570"/>
            <a:chOff x="152155" y="2633278"/>
            <a:chExt cx="6064086" cy="46257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8631CE-7129-47AF-A430-AB5A2B6C63D0}"/>
                </a:ext>
              </a:extLst>
            </p:cNvPr>
            <p:cNvSpPr txBox="1"/>
            <p:nvPr/>
          </p:nvSpPr>
          <p:spPr>
            <a:xfrm>
              <a:off x="618292" y="2729128"/>
              <a:ext cx="55979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 Hệ thống giám sát vòng xả tĩnh điện (Wrist Strap Monitor System)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FBE5F47-1D24-4E24-B76E-EE226AC92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2155" y="2633278"/>
              <a:ext cx="462570" cy="46257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7A908E-F8EA-4CF0-AC2A-4E94D4696CAB}"/>
              </a:ext>
            </a:extLst>
          </p:cNvPr>
          <p:cNvGrpSpPr/>
          <p:nvPr/>
        </p:nvGrpSpPr>
        <p:grpSpPr>
          <a:xfrm>
            <a:off x="68813" y="3519867"/>
            <a:ext cx="7159478" cy="465225"/>
            <a:chOff x="68813" y="3519867"/>
            <a:chExt cx="7159478" cy="46522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0CF7769-925E-4956-997D-24AB545B6017}"/>
                </a:ext>
              </a:extLst>
            </p:cNvPr>
            <p:cNvSpPr txBox="1"/>
            <p:nvPr/>
          </p:nvSpPr>
          <p:spPr>
            <a:xfrm>
              <a:off x="531383" y="3563033"/>
              <a:ext cx="6696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 Hệ thống giám sát máy AOI kiểm LED-FPC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80B2A69-5C6A-4358-A32F-0ABDEA821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13" y="3519867"/>
              <a:ext cx="465225" cy="465225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5CD9D49B-7666-4F5D-B9E8-274312EE8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813" y="4478685"/>
            <a:ext cx="464127" cy="46412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5021C823-F608-48B0-9E84-CB3E2FC6A507}"/>
              </a:ext>
            </a:extLst>
          </p:cNvPr>
          <p:cNvGrpSpPr/>
          <p:nvPr/>
        </p:nvGrpSpPr>
        <p:grpSpPr>
          <a:xfrm>
            <a:off x="68813" y="5218961"/>
            <a:ext cx="7159478" cy="464127"/>
            <a:chOff x="68813" y="5218961"/>
            <a:chExt cx="7159478" cy="46412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5E0A14B-760F-4BCA-984A-0BF4F1D6A81A}"/>
                </a:ext>
              </a:extLst>
            </p:cNvPr>
            <p:cNvSpPr txBox="1"/>
            <p:nvPr/>
          </p:nvSpPr>
          <p:spPr>
            <a:xfrm>
              <a:off x="531383" y="5306405"/>
              <a:ext cx="6696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 Hệ thống giám sát máy quét RFID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3E38A075-1832-4701-8C09-CBDA381CA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8813" y="5218961"/>
              <a:ext cx="464127" cy="464127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44DDFE6-2F72-4E83-AAEF-8713B57F8D70}"/>
              </a:ext>
            </a:extLst>
          </p:cNvPr>
          <p:cNvGrpSpPr/>
          <p:nvPr/>
        </p:nvGrpSpPr>
        <p:grpSpPr>
          <a:xfrm>
            <a:off x="68814" y="5920091"/>
            <a:ext cx="7159477" cy="464128"/>
            <a:chOff x="68814" y="5917108"/>
            <a:chExt cx="7159477" cy="46412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4CCF11-5275-4CC8-B302-BD4561601C79}"/>
                </a:ext>
              </a:extLst>
            </p:cNvPr>
            <p:cNvSpPr txBox="1"/>
            <p:nvPr/>
          </p:nvSpPr>
          <p:spPr>
            <a:xfrm>
              <a:off x="531383" y="5986014"/>
              <a:ext cx="6696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 Hệ thống giám sát nhiệt độ, độ ẩm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4D165C56-67E2-48A1-BE5E-E47856B86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8814" y="5917108"/>
              <a:ext cx="464128" cy="4641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4125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527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chủ - Wrist Strap Monitor System Dashboard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306890-10AC-4AC9-B0F7-713EE2D92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41" y="2176880"/>
            <a:ext cx="5762904" cy="297925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82BBE65-62B6-4895-919A-5DD51F521233}"/>
              </a:ext>
            </a:extLst>
          </p:cNvPr>
          <p:cNvSpPr txBox="1"/>
          <p:nvPr/>
        </p:nvSpPr>
        <p:spPr>
          <a:xfrm>
            <a:off x="1830308" y="5418621"/>
            <a:ext cx="2377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sáng – Tiếng Việt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0D164B-0545-43B4-8C7B-D34C422B00E2}"/>
              </a:ext>
            </a:extLst>
          </p:cNvPr>
          <p:cNvSpPr txBox="1"/>
          <p:nvPr/>
        </p:nvSpPr>
        <p:spPr>
          <a:xfrm>
            <a:off x="8127764" y="5418621"/>
            <a:ext cx="223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tối – Tiếng Việt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48084A-6D1C-47CA-A658-1F1BF9A4F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55" y="2176880"/>
            <a:ext cx="5684968" cy="297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0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527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chủ - Wrist Strap Monitor System Dashboard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2BBE65-62B6-4895-919A-5DD51F521233}"/>
              </a:ext>
            </a:extLst>
          </p:cNvPr>
          <p:cNvSpPr txBox="1"/>
          <p:nvPr/>
        </p:nvSpPr>
        <p:spPr>
          <a:xfrm>
            <a:off x="1830308" y="5418621"/>
            <a:ext cx="2377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sáng – Tiếng Anh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0D164B-0545-43B4-8C7B-D34C422B00E2}"/>
              </a:ext>
            </a:extLst>
          </p:cNvPr>
          <p:cNvSpPr txBox="1"/>
          <p:nvPr/>
        </p:nvSpPr>
        <p:spPr>
          <a:xfrm>
            <a:off x="8127764" y="5418621"/>
            <a:ext cx="223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tối – Tiếng Anh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09D416-DD31-41F3-8849-16B6ACD81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73" y="2176880"/>
            <a:ext cx="5971426" cy="2979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5C3F2E-9AC7-4D5D-AA4B-AF531CC94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913" y="2176880"/>
            <a:ext cx="5795513" cy="297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1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527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chủ - Home Page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52517-26A5-4240-9CA6-17A3A236B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975" y="1919330"/>
            <a:ext cx="9040832" cy="467226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772716F-F363-4FA0-9CDC-C1864D65A3BD}"/>
              </a:ext>
            </a:extLst>
          </p:cNvPr>
          <p:cNvGrpSpPr/>
          <p:nvPr/>
        </p:nvGrpSpPr>
        <p:grpSpPr>
          <a:xfrm>
            <a:off x="693193" y="3025238"/>
            <a:ext cx="1654754" cy="276999"/>
            <a:chOff x="0" y="3636414"/>
            <a:chExt cx="1654754" cy="27699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FB81A41-5095-4760-AC4C-FD1F1E17047F}"/>
                </a:ext>
              </a:extLst>
            </p:cNvPr>
            <p:cNvSpPr txBox="1"/>
            <p:nvPr/>
          </p:nvSpPr>
          <p:spPr>
            <a:xfrm>
              <a:off x="0" y="3636414"/>
              <a:ext cx="11996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Thanh menu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A7D090AD-0DC2-46AB-8C8F-370FF3B13153}"/>
                </a:ext>
              </a:extLst>
            </p:cNvPr>
            <p:cNvSpPr/>
            <p:nvPr/>
          </p:nvSpPr>
          <p:spPr>
            <a:xfrm>
              <a:off x="1033969" y="3702924"/>
              <a:ext cx="620785" cy="14397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6717F7B-ECE4-42F8-82DF-5EA1FC301A6E}"/>
              </a:ext>
            </a:extLst>
          </p:cNvPr>
          <p:cNvSpPr txBox="1"/>
          <p:nvPr/>
        </p:nvSpPr>
        <p:spPr>
          <a:xfrm>
            <a:off x="4135772" y="2892517"/>
            <a:ext cx="1220449" cy="553998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Ô v</a:t>
            </a:r>
            <a:r>
              <a:rPr lang="en-US" sz="10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ới màu sắc hiển thị vị trí gắn thiết bị giám sát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B078505-3042-446C-B63F-0579922BFFC4}"/>
              </a:ext>
            </a:extLst>
          </p:cNvPr>
          <p:cNvSpPr/>
          <p:nvPr/>
        </p:nvSpPr>
        <p:spPr>
          <a:xfrm>
            <a:off x="5410750" y="3025238"/>
            <a:ext cx="369265" cy="1673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9274CF-5BEF-4F56-8C4D-B20DC41A2D3E}"/>
              </a:ext>
            </a:extLst>
          </p:cNvPr>
          <p:cNvGrpSpPr/>
          <p:nvPr/>
        </p:nvGrpSpPr>
        <p:grpSpPr>
          <a:xfrm>
            <a:off x="6299729" y="6191488"/>
            <a:ext cx="2199018" cy="400110"/>
            <a:chOff x="6519939" y="6177178"/>
            <a:chExt cx="1573156" cy="55399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15A847-E6AA-4B75-BE11-1233216ACE3E}"/>
                </a:ext>
              </a:extLst>
            </p:cNvPr>
            <p:cNvSpPr txBox="1"/>
            <p:nvPr/>
          </p:nvSpPr>
          <p:spPr>
            <a:xfrm>
              <a:off x="6519939" y="6177178"/>
              <a:ext cx="1149143" cy="553998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Nút thao tác ngôn ngữ, giao diện sáng/tối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ECB5B293-FC8E-470D-A3EA-03E446F722F1}"/>
                </a:ext>
              </a:extLst>
            </p:cNvPr>
            <p:cNvSpPr/>
            <p:nvPr/>
          </p:nvSpPr>
          <p:spPr>
            <a:xfrm>
              <a:off x="7723830" y="6370480"/>
              <a:ext cx="369265" cy="16739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E0C0BF6-C6B9-4476-91EF-3F8FB3C7D9C1}"/>
              </a:ext>
            </a:extLst>
          </p:cNvPr>
          <p:cNvSpPr txBox="1"/>
          <p:nvPr/>
        </p:nvSpPr>
        <p:spPr>
          <a:xfrm>
            <a:off x="1" y="1743364"/>
            <a:ext cx="1727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Chú thích giao diện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9B7D3A-E456-4745-BA15-3B8D86B5D33E}"/>
              </a:ext>
            </a:extLst>
          </p:cNvPr>
          <p:cNvGrpSpPr/>
          <p:nvPr/>
        </p:nvGrpSpPr>
        <p:grpSpPr>
          <a:xfrm>
            <a:off x="4207078" y="1797387"/>
            <a:ext cx="1665216" cy="698807"/>
            <a:chOff x="4207078" y="1797387"/>
            <a:chExt cx="1665216" cy="69880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B57166-0F92-4CE1-9F49-EFDF41BAEB67}"/>
                </a:ext>
              </a:extLst>
            </p:cNvPr>
            <p:cNvSpPr txBox="1"/>
            <p:nvPr/>
          </p:nvSpPr>
          <p:spPr>
            <a:xfrm>
              <a:off x="4207078" y="1797387"/>
              <a:ext cx="1665216" cy="40011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Chuyển đổi chế độ (Vuốt xem bản đồ/Chọn ô)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AA52296E-1EEE-4FF0-80E0-AA7652DE0589}"/>
                </a:ext>
              </a:extLst>
            </p:cNvPr>
            <p:cNvSpPr/>
            <p:nvPr/>
          </p:nvSpPr>
          <p:spPr>
            <a:xfrm>
              <a:off x="4957893" y="2238201"/>
              <a:ext cx="201336" cy="25799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768137-6EE6-4CEC-AF08-7A8460F47F0C}"/>
              </a:ext>
            </a:extLst>
          </p:cNvPr>
          <p:cNvGrpSpPr/>
          <p:nvPr/>
        </p:nvGrpSpPr>
        <p:grpSpPr>
          <a:xfrm>
            <a:off x="6250095" y="1788355"/>
            <a:ext cx="1266441" cy="698807"/>
            <a:chOff x="6250095" y="1788355"/>
            <a:chExt cx="1266441" cy="69880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6FE55F-9F8A-4A50-B584-6E8D899476AF}"/>
                </a:ext>
              </a:extLst>
            </p:cNvPr>
            <p:cNvSpPr txBox="1"/>
            <p:nvPr/>
          </p:nvSpPr>
          <p:spPr>
            <a:xfrm>
              <a:off x="6250095" y="1788355"/>
              <a:ext cx="1266441" cy="40011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Nút thao tác với bản đồ (Phóng to)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28B0E91C-26F6-4824-8B90-2A46FC6F3F38}"/>
                </a:ext>
              </a:extLst>
            </p:cNvPr>
            <p:cNvSpPr/>
            <p:nvPr/>
          </p:nvSpPr>
          <p:spPr>
            <a:xfrm>
              <a:off x="6777055" y="2229169"/>
              <a:ext cx="201336" cy="25799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8409481-2AC8-4E62-AA6E-C8A56ECD07ED}"/>
              </a:ext>
            </a:extLst>
          </p:cNvPr>
          <p:cNvGrpSpPr/>
          <p:nvPr/>
        </p:nvGrpSpPr>
        <p:grpSpPr>
          <a:xfrm>
            <a:off x="9070194" y="1797387"/>
            <a:ext cx="1266441" cy="701587"/>
            <a:chOff x="9070194" y="1797387"/>
            <a:chExt cx="1266441" cy="7015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4C65154-60F8-46A4-8028-F3987728604A}"/>
                </a:ext>
              </a:extLst>
            </p:cNvPr>
            <p:cNvSpPr txBox="1"/>
            <p:nvPr/>
          </p:nvSpPr>
          <p:spPr>
            <a:xfrm>
              <a:off x="9070194" y="1797387"/>
              <a:ext cx="1266441" cy="40011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Nút thao tác với bản đồ (phóng to)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9" name="Arrow: Down 28">
              <a:extLst>
                <a:ext uri="{FF2B5EF4-FFF2-40B4-BE49-F238E27FC236}">
                  <a16:creationId xmlns:a16="http://schemas.microsoft.com/office/drawing/2014/main" id="{8E62A274-32F7-42A8-9453-41AF01DA382F}"/>
                </a:ext>
              </a:extLst>
            </p:cNvPr>
            <p:cNvSpPr/>
            <p:nvPr/>
          </p:nvSpPr>
          <p:spPr>
            <a:xfrm>
              <a:off x="9633357" y="2240981"/>
              <a:ext cx="201336" cy="25799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0BE0D3F-2F7F-4E6E-99C4-33857408B0B3}"/>
              </a:ext>
            </a:extLst>
          </p:cNvPr>
          <p:cNvGrpSpPr/>
          <p:nvPr/>
        </p:nvGrpSpPr>
        <p:grpSpPr>
          <a:xfrm>
            <a:off x="4135772" y="4465058"/>
            <a:ext cx="1644243" cy="246221"/>
            <a:chOff x="4135772" y="4465058"/>
            <a:chExt cx="1644243" cy="24622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989535D-4C62-4889-823B-844605C9497C}"/>
                </a:ext>
              </a:extLst>
            </p:cNvPr>
            <p:cNvSpPr txBox="1"/>
            <p:nvPr/>
          </p:nvSpPr>
          <p:spPr>
            <a:xfrm>
              <a:off x="4135772" y="4465058"/>
              <a:ext cx="1220449" cy="246221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Layout nhà x</a:t>
              </a:r>
              <a:r>
                <a:rPr kumimoji="0" lang="vi-V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ư</a:t>
              </a: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ởng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1BE116A5-AAC9-43D8-AED7-2430995CE2FB}"/>
                </a:ext>
              </a:extLst>
            </p:cNvPr>
            <p:cNvSpPr/>
            <p:nvPr/>
          </p:nvSpPr>
          <p:spPr>
            <a:xfrm>
              <a:off x="5410750" y="4504471"/>
              <a:ext cx="369265" cy="16739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942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527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chủ - Home Page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A4D687-E248-4FE8-AA68-4CB1EFC00DD5}"/>
              </a:ext>
            </a:extLst>
          </p:cNvPr>
          <p:cNvSpPr txBox="1"/>
          <p:nvPr/>
        </p:nvSpPr>
        <p:spPr>
          <a:xfrm>
            <a:off x="0" y="1700593"/>
            <a:ext cx="527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Tính năng trang chủ - Home Page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CA5408-145D-468B-A49F-968EE44C1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8" y="2176879"/>
            <a:ext cx="2398243" cy="35672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729993-0CE6-4578-A0F6-04263D699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127" y="2176878"/>
            <a:ext cx="2398242" cy="35672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88B050-EE81-43C9-86EB-C349EC21BA4B}"/>
              </a:ext>
            </a:extLst>
          </p:cNvPr>
          <p:cNvSpPr txBox="1"/>
          <p:nvPr/>
        </p:nvSpPr>
        <p:spPr>
          <a:xfrm>
            <a:off x="361423" y="5954991"/>
            <a:ext cx="4553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Xem thông tin thiết bị đ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ợc gán cho từng ô trên layout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EEB206-DFBF-4E62-8B4E-35F1F66931A7}"/>
              </a:ext>
            </a:extLst>
          </p:cNvPr>
          <p:cNvSpPr txBox="1"/>
          <p:nvPr/>
        </p:nvSpPr>
        <p:spPr>
          <a:xfrm>
            <a:off x="7191772" y="5954990"/>
            <a:ext cx="4638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Tạo mới thiết bị đ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ợc gán cho ô mong muốn trên layout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D80152-3ABA-4BC7-B04A-DCA6C6035C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4793" y="2176878"/>
            <a:ext cx="2398242" cy="35672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083C51-F0C3-4C00-903C-4CF9020709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7460" y="2176877"/>
            <a:ext cx="2398242" cy="356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97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4328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danh sách thiết bị - Device List Page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C0BF6-C6B9-4476-91EF-3F8FB3C7D9C1}"/>
              </a:ext>
            </a:extLst>
          </p:cNvPr>
          <p:cNvSpPr txBox="1"/>
          <p:nvPr/>
        </p:nvSpPr>
        <p:spPr>
          <a:xfrm>
            <a:off x="1" y="1743364"/>
            <a:ext cx="1727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Chú thích giao diện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A8603C7-52CC-4897-BC0A-786C60226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135" y="1743364"/>
            <a:ext cx="9966528" cy="4939027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F34F7354-75BC-4736-99E0-DF24CED4F7C0}"/>
              </a:ext>
            </a:extLst>
          </p:cNvPr>
          <p:cNvGrpSpPr/>
          <p:nvPr/>
        </p:nvGrpSpPr>
        <p:grpSpPr>
          <a:xfrm>
            <a:off x="378475" y="3025237"/>
            <a:ext cx="1654754" cy="276999"/>
            <a:chOff x="0" y="3636414"/>
            <a:chExt cx="1654754" cy="276999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92CDA7-CE14-4204-9986-DED28687AD44}"/>
                </a:ext>
              </a:extLst>
            </p:cNvPr>
            <p:cNvSpPr txBox="1"/>
            <p:nvPr/>
          </p:nvSpPr>
          <p:spPr>
            <a:xfrm>
              <a:off x="0" y="3636414"/>
              <a:ext cx="11996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Thanh menu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76" name="Arrow: Right 75">
              <a:extLst>
                <a:ext uri="{FF2B5EF4-FFF2-40B4-BE49-F238E27FC236}">
                  <a16:creationId xmlns:a16="http://schemas.microsoft.com/office/drawing/2014/main" id="{902ECA57-D1AF-4308-BB3D-DF0255717BBB}"/>
                </a:ext>
              </a:extLst>
            </p:cNvPr>
            <p:cNvSpPr/>
            <p:nvPr/>
          </p:nvSpPr>
          <p:spPr>
            <a:xfrm>
              <a:off x="1033969" y="3702924"/>
              <a:ext cx="620785" cy="14397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84AADAD4-A16F-499A-BD67-D42F39CF2966}"/>
              </a:ext>
            </a:extLst>
          </p:cNvPr>
          <p:cNvSpPr txBox="1"/>
          <p:nvPr/>
        </p:nvSpPr>
        <p:spPr>
          <a:xfrm>
            <a:off x="6458320" y="2988609"/>
            <a:ext cx="1370686" cy="553998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Ô v</a:t>
            </a:r>
            <a:r>
              <a:rPr lang="en-US" sz="10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ới màu sắc hiển thị cùng tên thiết bị giám sát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2709ED5E-C847-4107-98A4-921EB3DB66A6}"/>
              </a:ext>
            </a:extLst>
          </p:cNvPr>
          <p:cNvSpPr/>
          <p:nvPr/>
        </p:nvSpPr>
        <p:spPr>
          <a:xfrm rot="10800000">
            <a:off x="5993832" y="3163737"/>
            <a:ext cx="369265" cy="1673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44C5A72-E8F5-4B77-9D3F-5738ED2A6DD6}"/>
              </a:ext>
            </a:extLst>
          </p:cNvPr>
          <p:cNvGrpSpPr/>
          <p:nvPr/>
        </p:nvGrpSpPr>
        <p:grpSpPr>
          <a:xfrm>
            <a:off x="6569694" y="6322985"/>
            <a:ext cx="2199018" cy="400110"/>
            <a:chOff x="6519939" y="6177178"/>
            <a:chExt cx="1573156" cy="55399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28653BB-3845-4C38-98E6-9D320F9D9A04}"/>
                </a:ext>
              </a:extLst>
            </p:cNvPr>
            <p:cNvSpPr txBox="1"/>
            <p:nvPr/>
          </p:nvSpPr>
          <p:spPr>
            <a:xfrm>
              <a:off x="6519939" y="6177178"/>
              <a:ext cx="1149143" cy="553998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Nút thao tác ngôn ngữ, giao diện sáng/tối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81" name="Arrow: Right 80">
              <a:extLst>
                <a:ext uri="{FF2B5EF4-FFF2-40B4-BE49-F238E27FC236}">
                  <a16:creationId xmlns:a16="http://schemas.microsoft.com/office/drawing/2014/main" id="{43CA3825-C884-4436-AFEC-FC85759A005F}"/>
                </a:ext>
              </a:extLst>
            </p:cNvPr>
            <p:cNvSpPr/>
            <p:nvPr/>
          </p:nvSpPr>
          <p:spPr>
            <a:xfrm>
              <a:off x="7723830" y="6370480"/>
              <a:ext cx="369265" cy="16739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960D9B7-3B4A-4EEB-924E-BDAED835F509}"/>
              </a:ext>
            </a:extLst>
          </p:cNvPr>
          <p:cNvGrpSpPr/>
          <p:nvPr/>
        </p:nvGrpSpPr>
        <p:grpSpPr>
          <a:xfrm>
            <a:off x="4579932" y="1563684"/>
            <a:ext cx="1364747" cy="900221"/>
            <a:chOff x="6102636" y="1615887"/>
            <a:chExt cx="1364747" cy="864086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FB52308-C074-4B6A-9EEC-82C835642A58}"/>
                </a:ext>
              </a:extLst>
            </p:cNvPr>
            <p:cNvSpPr txBox="1"/>
            <p:nvPr/>
          </p:nvSpPr>
          <p:spPr>
            <a:xfrm>
              <a:off x="6102636" y="1615887"/>
              <a:ext cx="1364747" cy="53176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Bộ lọc (theo trạng thái thiết bị, khi vực lắp đặt, tên thiết bị)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87" name="Arrow: Down 86">
              <a:extLst>
                <a:ext uri="{FF2B5EF4-FFF2-40B4-BE49-F238E27FC236}">
                  <a16:creationId xmlns:a16="http://schemas.microsoft.com/office/drawing/2014/main" id="{2566FCF6-AAFF-4DA0-8ACD-8E46EF819EB9}"/>
                </a:ext>
              </a:extLst>
            </p:cNvPr>
            <p:cNvSpPr/>
            <p:nvPr/>
          </p:nvSpPr>
          <p:spPr>
            <a:xfrm>
              <a:off x="6684342" y="2221980"/>
              <a:ext cx="201336" cy="25799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310A400C-1AFD-4462-8FA1-500018C03702}"/>
              </a:ext>
            </a:extLst>
          </p:cNvPr>
          <p:cNvSpPr txBox="1"/>
          <p:nvPr/>
        </p:nvSpPr>
        <p:spPr>
          <a:xfrm>
            <a:off x="1" y="4122442"/>
            <a:ext cx="2151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Tính năng của trang:</a:t>
            </a:r>
            <a:b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Theo dõi nhanh danh sách và trạng thái thiết bị</a:t>
            </a:r>
          </a:p>
        </p:txBody>
      </p:sp>
    </p:spTree>
    <p:extLst>
      <p:ext uri="{BB962C8B-B14F-4D97-AF65-F5344CB8AC3E}">
        <p14:creationId xmlns:p14="http://schemas.microsoft.com/office/powerpoint/2010/main" val="2359484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975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quản lý thiết bị - Device Management Page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C0BF6-C6B9-4476-91EF-3F8FB3C7D9C1}"/>
              </a:ext>
            </a:extLst>
          </p:cNvPr>
          <p:cNvSpPr txBox="1"/>
          <p:nvPr/>
        </p:nvSpPr>
        <p:spPr>
          <a:xfrm>
            <a:off x="1" y="1743364"/>
            <a:ext cx="1727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Chú thích giao diện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8755B-B648-480E-9876-EFBED290C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789" y="1801884"/>
            <a:ext cx="9864874" cy="487840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074B8AE-52FE-43DC-BB5E-9FE827EC64A1}"/>
              </a:ext>
            </a:extLst>
          </p:cNvPr>
          <p:cNvGrpSpPr/>
          <p:nvPr/>
        </p:nvGrpSpPr>
        <p:grpSpPr>
          <a:xfrm>
            <a:off x="378475" y="3025237"/>
            <a:ext cx="1654754" cy="276999"/>
            <a:chOff x="0" y="3636414"/>
            <a:chExt cx="1654754" cy="27699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3E84BC-4BEB-4422-A5C6-F3842DA23652}"/>
                </a:ext>
              </a:extLst>
            </p:cNvPr>
            <p:cNvSpPr txBox="1"/>
            <p:nvPr/>
          </p:nvSpPr>
          <p:spPr>
            <a:xfrm>
              <a:off x="0" y="3636414"/>
              <a:ext cx="11996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Thanh menu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FE9250AB-3AF1-4EEF-861D-7DC062E1068B}"/>
                </a:ext>
              </a:extLst>
            </p:cNvPr>
            <p:cNvSpPr/>
            <p:nvPr/>
          </p:nvSpPr>
          <p:spPr>
            <a:xfrm>
              <a:off x="1033969" y="3702924"/>
              <a:ext cx="620785" cy="14397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61B699E-6BFB-4284-A4A0-79A45065A594}"/>
              </a:ext>
            </a:extLst>
          </p:cNvPr>
          <p:cNvSpPr txBox="1"/>
          <p:nvPr/>
        </p:nvSpPr>
        <p:spPr>
          <a:xfrm>
            <a:off x="5144995" y="4740319"/>
            <a:ext cx="1370686" cy="40011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Thông tin chi tiết t</a:t>
            </a:r>
            <a:r>
              <a:rPr lang="en-US" sz="10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ừng thiết bị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7E5700-1629-4A7C-BF82-01E08255CE5B}"/>
              </a:ext>
            </a:extLst>
          </p:cNvPr>
          <p:cNvGrpSpPr/>
          <p:nvPr/>
        </p:nvGrpSpPr>
        <p:grpSpPr>
          <a:xfrm>
            <a:off x="6569694" y="6322985"/>
            <a:ext cx="2199018" cy="400110"/>
            <a:chOff x="6519939" y="6177178"/>
            <a:chExt cx="1573156" cy="55399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8478B44-76BA-4B3A-B236-9440FD9D6276}"/>
                </a:ext>
              </a:extLst>
            </p:cNvPr>
            <p:cNvSpPr txBox="1"/>
            <p:nvPr/>
          </p:nvSpPr>
          <p:spPr>
            <a:xfrm>
              <a:off x="6519939" y="6177178"/>
              <a:ext cx="1149143" cy="553998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Nút thao tác ngôn ngữ, giao diện sáng/tối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1DE57FC4-C43C-4BE8-B202-3A75587B5216}"/>
                </a:ext>
              </a:extLst>
            </p:cNvPr>
            <p:cNvSpPr/>
            <p:nvPr/>
          </p:nvSpPr>
          <p:spPr>
            <a:xfrm>
              <a:off x="7723830" y="6370480"/>
              <a:ext cx="369265" cy="16739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8D7CB1F-86FA-464D-875C-B79E4A24BE0D}"/>
              </a:ext>
            </a:extLst>
          </p:cNvPr>
          <p:cNvGrpSpPr/>
          <p:nvPr/>
        </p:nvGrpSpPr>
        <p:grpSpPr>
          <a:xfrm>
            <a:off x="10397258" y="1447141"/>
            <a:ext cx="1364747" cy="900221"/>
            <a:chOff x="6102636" y="1615887"/>
            <a:chExt cx="1364747" cy="86408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E7B9427-29E4-4F16-9889-49139E6F028A}"/>
                </a:ext>
              </a:extLst>
            </p:cNvPr>
            <p:cNvSpPr txBox="1"/>
            <p:nvPr/>
          </p:nvSpPr>
          <p:spPr>
            <a:xfrm>
              <a:off x="6102636" y="1615887"/>
              <a:ext cx="1364747" cy="53176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Bộ lọc (theo trạng thái thiết bị, khi vực lắp đặt, tên thiết bị)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B6033D69-124B-450F-AAC0-6C750D0C3B99}"/>
                </a:ext>
              </a:extLst>
            </p:cNvPr>
            <p:cNvSpPr/>
            <p:nvPr/>
          </p:nvSpPr>
          <p:spPr>
            <a:xfrm>
              <a:off x="6684342" y="2221980"/>
              <a:ext cx="201336" cy="25799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Arrow: Down 6">
            <a:extLst>
              <a:ext uri="{FF2B5EF4-FFF2-40B4-BE49-F238E27FC236}">
                <a16:creationId xmlns:a16="http://schemas.microsoft.com/office/drawing/2014/main" id="{2E0605F3-100D-4FDF-86C1-F72BE14981A5}"/>
              </a:ext>
            </a:extLst>
          </p:cNvPr>
          <p:cNvSpPr/>
          <p:nvPr/>
        </p:nvSpPr>
        <p:spPr>
          <a:xfrm rot="10800000">
            <a:off x="5604028" y="4121986"/>
            <a:ext cx="299611" cy="5539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AD30802-BFE5-4FFD-A000-767C1C4BDA8C}"/>
              </a:ext>
            </a:extLst>
          </p:cNvPr>
          <p:cNvGrpSpPr/>
          <p:nvPr/>
        </p:nvGrpSpPr>
        <p:grpSpPr>
          <a:xfrm>
            <a:off x="4120725" y="1601030"/>
            <a:ext cx="1364747" cy="900221"/>
            <a:chOff x="6102636" y="1615887"/>
            <a:chExt cx="1364747" cy="86408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42BF21B-24F4-49E4-B9FA-89E194C13B79}"/>
                </a:ext>
              </a:extLst>
            </p:cNvPr>
            <p:cNvSpPr txBox="1"/>
            <p:nvPr/>
          </p:nvSpPr>
          <p:spPr>
            <a:xfrm>
              <a:off x="6102636" y="1615887"/>
              <a:ext cx="1364747" cy="53176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Nút thao tác (Thêm mới, xóa, xuất danh sách thiết bị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7" name="Arrow: Down 46">
              <a:extLst>
                <a:ext uri="{FF2B5EF4-FFF2-40B4-BE49-F238E27FC236}">
                  <a16:creationId xmlns:a16="http://schemas.microsoft.com/office/drawing/2014/main" id="{3A450C72-5340-432E-8594-34F0FD1F097B}"/>
                </a:ext>
              </a:extLst>
            </p:cNvPr>
            <p:cNvSpPr/>
            <p:nvPr/>
          </p:nvSpPr>
          <p:spPr>
            <a:xfrm>
              <a:off x="6684342" y="2221980"/>
              <a:ext cx="201336" cy="25799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9539124D-5E44-4412-9C03-F436B2C39C6A}"/>
              </a:ext>
            </a:extLst>
          </p:cNvPr>
          <p:cNvSpPr txBox="1"/>
          <p:nvPr/>
        </p:nvSpPr>
        <p:spPr>
          <a:xfrm>
            <a:off x="1" y="4122442"/>
            <a:ext cx="21510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Tính năng của trang:</a:t>
            </a:r>
            <a:b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Quản lý chi tiết từng thiết bị, tạo, sửa, xóa thiết bị</a:t>
            </a:r>
            <a:b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Lấy danh sách toàn bộ thiết bị</a:t>
            </a:r>
          </a:p>
        </p:txBody>
      </p:sp>
    </p:spTree>
    <p:extLst>
      <p:ext uri="{BB962C8B-B14F-4D97-AF65-F5344CB8AC3E}">
        <p14:creationId xmlns:p14="http://schemas.microsoft.com/office/powerpoint/2010/main" val="66715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C0BF6-C6B9-4476-91EF-3F8FB3C7D9C1}"/>
              </a:ext>
            </a:extLst>
          </p:cNvPr>
          <p:cNvSpPr txBox="1"/>
          <p:nvPr/>
        </p:nvSpPr>
        <p:spPr>
          <a:xfrm>
            <a:off x="1" y="1743364"/>
            <a:ext cx="1727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Chú thích giao diện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45D913C-2C3C-43C2-8678-3FC1C044F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109" y="1897252"/>
            <a:ext cx="9430868" cy="4673617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FAF0B770-B0BA-46CC-9CDF-4574519F2DB0}"/>
              </a:ext>
            </a:extLst>
          </p:cNvPr>
          <p:cNvGrpSpPr/>
          <p:nvPr/>
        </p:nvGrpSpPr>
        <p:grpSpPr>
          <a:xfrm>
            <a:off x="378475" y="3025237"/>
            <a:ext cx="1654754" cy="276999"/>
            <a:chOff x="0" y="3636414"/>
            <a:chExt cx="1654754" cy="27699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7B19569-2184-4C7C-9653-83E11D81ABDD}"/>
                </a:ext>
              </a:extLst>
            </p:cNvPr>
            <p:cNvSpPr txBox="1"/>
            <p:nvPr/>
          </p:nvSpPr>
          <p:spPr>
            <a:xfrm>
              <a:off x="0" y="3636414"/>
              <a:ext cx="11996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Thanh menu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6" name="Arrow: Right 55">
              <a:extLst>
                <a:ext uri="{FF2B5EF4-FFF2-40B4-BE49-F238E27FC236}">
                  <a16:creationId xmlns:a16="http://schemas.microsoft.com/office/drawing/2014/main" id="{0022A6D9-D718-41B1-8678-2852F2356F8E}"/>
                </a:ext>
              </a:extLst>
            </p:cNvPr>
            <p:cNvSpPr/>
            <p:nvPr/>
          </p:nvSpPr>
          <p:spPr>
            <a:xfrm>
              <a:off x="1033969" y="3702924"/>
              <a:ext cx="620785" cy="14397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8313220-708D-4E6A-9214-275BC3357980}"/>
              </a:ext>
            </a:extLst>
          </p:cNvPr>
          <p:cNvGrpSpPr/>
          <p:nvPr/>
        </p:nvGrpSpPr>
        <p:grpSpPr>
          <a:xfrm>
            <a:off x="6569694" y="6322985"/>
            <a:ext cx="2199018" cy="400110"/>
            <a:chOff x="6519939" y="6177178"/>
            <a:chExt cx="1573156" cy="553998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82C61E4-6312-4366-B9E1-EBB950F9995F}"/>
                </a:ext>
              </a:extLst>
            </p:cNvPr>
            <p:cNvSpPr txBox="1"/>
            <p:nvPr/>
          </p:nvSpPr>
          <p:spPr>
            <a:xfrm>
              <a:off x="6519939" y="6177178"/>
              <a:ext cx="1149143" cy="553998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Nút thao tác ngôn ngữ, giao diện sáng/tối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0" name="Arrow: Right 59">
              <a:extLst>
                <a:ext uri="{FF2B5EF4-FFF2-40B4-BE49-F238E27FC236}">
                  <a16:creationId xmlns:a16="http://schemas.microsoft.com/office/drawing/2014/main" id="{C4771B3C-E699-457B-A840-2BC7DEB66C7E}"/>
                </a:ext>
              </a:extLst>
            </p:cNvPr>
            <p:cNvSpPr/>
            <p:nvPr/>
          </p:nvSpPr>
          <p:spPr>
            <a:xfrm>
              <a:off x="7723830" y="6370480"/>
              <a:ext cx="369265" cy="16739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C5229AF-07D2-442B-A12C-1317231D0DC7}"/>
              </a:ext>
            </a:extLst>
          </p:cNvPr>
          <p:cNvGrpSpPr/>
          <p:nvPr/>
        </p:nvGrpSpPr>
        <p:grpSpPr>
          <a:xfrm>
            <a:off x="5448957" y="2001139"/>
            <a:ext cx="1364747" cy="900221"/>
            <a:chOff x="6102636" y="1615887"/>
            <a:chExt cx="1364747" cy="864086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4B9FFB3-C53D-4D29-8275-3D070BDDC995}"/>
                </a:ext>
              </a:extLst>
            </p:cNvPr>
            <p:cNvSpPr txBox="1"/>
            <p:nvPr/>
          </p:nvSpPr>
          <p:spPr>
            <a:xfrm>
              <a:off x="6102636" y="1615887"/>
              <a:ext cx="1364747" cy="53176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Cài đặt chi tiết cho ca làm việc và ngày sản xuất cụ thể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6" name="Arrow: Down 65">
              <a:extLst>
                <a:ext uri="{FF2B5EF4-FFF2-40B4-BE49-F238E27FC236}">
                  <a16:creationId xmlns:a16="http://schemas.microsoft.com/office/drawing/2014/main" id="{29778845-7C9A-436A-B362-90476EC98C08}"/>
                </a:ext>
              </a:extLst>
            </p:cNvPr>
            <p:cNvSpPr/>
            <p:nvPr/>
          </p:nvSpPr>
          <p:spPr>
            <a:xfrm>
              <a:off x="6684342" y="2221980"/>
              <a:ext cx="201336" cy="25799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50E7021A-B94A-4F34-842E-17FF5F308EFC}"/>
              </a:ext>
            </a:extLst>
          </p:cNvPr>
          <p:cNvSpPr txBox="1"/>
          <p:nvPr/>
        </p:nvSpPr>
        <p:spPr>
          <a:xfrm>
            <a:off x="-1" y="1320930"/>
            <a:ext cx="975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kế hoạch &amp; thời gian sản xuất – Production Plan &amp; Working Time Page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43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7428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kế hoạch &amp; thời gian sản xuất – Production Plan &amp; Working Time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A4D687-E248-4FE8-AA68-4CB1EFC00DD5}"/>
              </a:ext>
            </a:extLst>
          </p:cNvPr>
          <p:cNvSpPr txBox="1"/>
          <p:nvPr/>
        </p:nvSpPr>
        <p:spPr>
          <a:xfrm>
            <a:off x="0" y="1700593"/>
            <a:ext cx="7428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Tính năng trang kế hoạch &amp; thời gian sản xuất – Production Plan &amp; Working Time Page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88B050-EE81-43C9-86EB-C349EC21BA4B}"/>
              </a:ext>
            </a:extLst>
          </p:cNvPr>
          <p:cNvSpPr txBox="1"/>
          <p:nvPr/>
        </p:nvSpPr>
        <p:spPr>
          <a:xfrm>
            <a:off x="742005" y="5157407"/>
            <a:ext cx="4553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Cài đặt tắt/bật thông báo vào giờ nghỉ cố định theo ca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1723A3-D8D4-4298-889C-C46A5473F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1" y="2411494"/>
            <a:ext cx="2640126" cy="2595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C4E391-E4D7-45B9-A2A8-F9AF3172F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8919" y="2411494"/>
            <a:ext cx="2640126" cy="2595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C35E84-460D-45FC-B1E3-C43C707169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505" y="2411494"/>
            <a:ext cx="2640127" cy="25959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D0EB8D-44AC-490E-AD4D-EDF28DD230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531" y="2411493"/>
            <a:ext cx="2640127" cy="25959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36D999-4240-4404-AAEE-B95803B80355}"/>
              </a:ext>
            </a:extLst>
          </p:cNvPr>
          <p:cNvSpPr txBox="1"/>
          <p:nvPr/>
        </p:nvSpPr>
        <p:spPr>
          <a:xfrm>
            <a:off x="6896168" y="5157407"/>
            <a:ext cx="4553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Cài đặt tắt/bật thông báo vào ngày sản xuất cụ thể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031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C0BF6-C6B9-4476-91EF-3F8FB3C7D9C1}"/>
              </a:ext>
            </a:extLst>
          </p:cNvPr>
          <p:cNvSpPr txBox="1"/>
          <p:nvPr/>
        </p:nvSpPr>
        <p:spPr>
          <a:xfrm>
            <a:off x="1" y="1743364"/>
            <a:ext cx="1727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Chú thích giao diện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E7021A-B94A-4F34-842E-17FF5F308EFC}"/>
              </a:ext>
            </a:extLst>
          </p:cNvPr>
          <p:cNvSpPr txBox="1"/>
          <p:nvPr/>
        </p:nvSpPr>
        <p:spPr>
          <a:xfrm>
            <a:off x="-1" y="1320930"/>
            <a:ext cx="975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trực quan hóa dữ liệu – Data Visualization Page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826DF6-0D71-46F0-AC5A-2CC7FD953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357" y="1801884"/>
            <a:ext cx="9748167" cy="480292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A1C1383-2B5B-49AA-AF42-794A76E54F68}"/>
              </a:ext>
            </a:extLst>
          </p:cNvPr>
          <p:cNvGrpSpPr/>
          <p:nvPr/>
        </p:nvGrpSpPr>
        <p:grpSpPr>
          <a:xfrm>
            <a:off x="378475" y="3025237"/>
            <a:ext cx="1654754" cy="276999"/>
            <a:chOff x="0" y="3636414"/>
            <a:chExt cx="1654754" cy="27699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5B45D47-C88E-4975-9AA7-C76E0FD1566B}"/>
                </a:ext>
              </a:extLst>
            </p:cNvPr>
            <p:cNvSpPr txBox="1"/>
            <p:nvPr/>
          </p:nvSpPr>
          <p:spPr>
            <a:xfrm>
              <a:off x="0" y="3636414"/>
              <a:ext cx="11996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Thanh menu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F4AD1898-775D-4340-AA51-5DF00D07F66E}"/>
                </a:ext>
              </a:extLst>
            </p:cNvPr>
            <p:cNvSpPr/>
            <p:nvPr/>
          </p:nvSpPr>
          <p:spPr>
            <a:xfrm>
              <a:off x="1033969" y="3702924"/>
              <a:ext cx="620785" cy="14397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7FCB03-82A1-4454-9DA4-BBCE0FEDF277}"/>
              </a:ext>
            </a:extLst>
          </p:cNvPr>
          <p:cNvGrpSpPr/>
          <p:nvPr/>
        </p:nvGrpSpPr>
        <p:grpSpPr>
          <a:xfrm>
            <a:off x="6404232" y="6243424"/>
            <a:ext cx="2199020" cy="400110"/>
            <a:chOff x="6519938" y="6177178"/>
            <a:chExt cx="1573157" cy="55399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F14C54-CAC0-41A5-8892-B240EC3DD3BD}"/>
                </a:ext>
              </a:extLst>
            </p:cNvPr>
            <p:cNvSpPr txBox="1"/>
            <p:nvPr/>
          </p:nvSpPr>
          <p:spPr>
            <a:xfrm>
              <a:off x="6519938" y="6177178"/>
              <a:ext cx="1149143" cy="553998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Nút thao tác ngôn ngữ, giao diện sáng/tối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3B5CC013-59AF-4607-B5C0-97B0D9F0850C}"/>
                </a:ext>
              </a:extLst>
            </p:cNvPr>
            <p:cNvSpPr/>
            <p:nvPr/>
          </p:nvSpPr>
          <p:spPr>
            <a:xfrm>
              <a:off x="7723830" y="6370480"/>
              <a:ext cx="369265" cy="16739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01B1462-C0D0-45D6-A8C8-92721C5283F0}"/>
              </a:ext>
            </a:extLst>
          </p:cNvPr>
          <p:cNvGrpSpPr/>
          <p:nvPr/>
        </p:nvGrpSpPr>
        <p:grpSpPr>
          <a:xfrm>
            <a:off x="4153181" y="1743365"/>
            <a:ext cx="1570151" cy="772060"/>
            <a:chOff x="5999934" y="1738904"/>
            <a:chExt cx="1570151" cy="74106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89F785-03B5-4E7F-A420-FD174CFF7046}"/>
                </a:ext>
              </a:extLst>
            </p:cNvPr>
            <p:cNvSpPr txBox="1"/>
            <p:nvPr/>
          </p:nvSpPr>
          <p:spPr>
            <a:xfrm>
              <a:off x="5999934" y="1738904"/>
              <a:ext cx="1570151" cy="38405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Xem biểu đồ theo khoảng thời gian cụ thể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Arrow: Down 26">
              <a:extLst>
                <a:ext uri="{FF2B5EF4-FFF2-40B4-BE49-F238E27FC236}">
                  <a16:creationId xmlns:a16="http://schemas.microsoft.com/office/drawing/2014/main" id="{57086D33-1429-4F21-B8C0-CDB4A78625C0}"/>
                </a:ext>
              </a:extLst>
            </p:cNvPr>
            <p:cNvSpPr/>
            <p:nvPr/>
          </p:nvSpPr>
          <p:spPr>
            <a:xfrm>
              <a:off x="6684342" y="2221980"/>
              <a:ext cx="201336" cy="25799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0B7AC5E-2D55-4BA4-A8C2-103F2C413EBD}"/>
              </a:ext>
            </a:extLst>
          </p:cNvPr>
          <p:cNvGrpSpPr/>
          <p:nvPr/>
        </p:nvGrpSpPr>
        <p:grpSpPr>
          <a:xfrm>
            <a:off x="6404232" y="1743364"/>
            <a:ext cx="1570151" cy="772060"/>
            <a:chOff x="5999934" y="1738904"/>
            <a:chExt cx="1570151" cy="74106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4E709EE-C7E6-41F0-9058-C0F40BF38C99}"/>
                </a:ext>
              </a:extLst>
            </p:cNvPr>
            <p:cNvSpPr txBox="1"/>
            <p:nvPr/>
          </p:nvSpPr>
          <p:spPr>
            <a:xfrm>
              <a:off x="5999934" y="1738904"/>
              <a:ext cx="1570151" cy="384049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Lọc theo khu vực, tiêu chí khác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EF876D1A-9194-4519-B161-9F10D135A430}"/>
                </a:ext>
              </a:extLst>
            </p:cNvPr>
            <p:cNvSpPr/>
            <p:nvPr/>
          </p:nvSpPr>
          <p:spPr>
            <a:xfrm>
              <a:off x="6684342" y="2221980"/>
              <a:ext cx="201336" cy="25799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907F8C2-B4B8-4F30-8BAC-500625E3BECB}"/>
              </a:ext>
            </a:extLst>
          </p:cNvPr>
          <p:cNvSpPr txBox="1"/>
          <p:nvPr/>
        </p:nvSpPr>
        <p:spPr>
          <a:xfrm>
            <a:off x="1" y="4122442"/>
            <a:ext cx="21510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Tính năng của trang:</a:t>
            </a:r>
            <a:b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Trực quan hóa dữ liệu lịch sử bằng biểu đồ</a:t>
            </a:r>
            <a:b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Cấp quản lý có thể nhanh chóng hiểu đ</a:t>
            </a:r>
            <a:r>
              <a:rPr lang="vi-VN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ợc tình hình hệ thống</a:t>
            </a:r>
          </a:p>
        </p:txBody>
      </p:sp>
    </p:spTree>
    <p:extLst>
      <p:ext uri="{BB962C8B-B14F-4D97-AF65-F5344CB8AC3E}">
        <p14:creationId xmlns:p14="http://schemas.microsoft.com/office/powerpoint/2010/main" val="2874015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C0BF6-C6B9-4476-91EF-3F8FB3C7D9C1}"/>
              </a:ext>
            </a:extLst>
          </p:cNvPr>
          <p:cNvSpPr txBox="1"/>
          <p:nvPr/>
        </p:nvSpPr>
        <p:spPr>
          <a:xfrm>
            <a:off x="1" y="1743364"/>
            <a:ext cx="1727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Chú thích giao diện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E7021A-B94A-4F34-842E-17FF5F308EFC}"/>
              </a:ext>
            </a:extLst>
          </p:cNvPr>
          <p:cNvSpPr txBox="1"/>
          <p:nvPr/>
        </p:nvSpPr>
        <p:spPr>
          <a:xfrm>
            <a:off x="-1" y="1320930"/>
            <a:ext cx="975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Giao diện trang phân tích dữ liệu – Data Analysis Page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07F8C2-B4B8-4F30-8BAC-500625E3BECB}"/>
              </a:ext>
            </a:extLst>
          </p:cNvPr>
          <p:cNvSpPr txBox="1"/>
          <p:nvPr/>
        </p:nvSpPr>
        <p:spPr>
          <a:xfrm>
            <a:off x="1" y="4122442"/>
            <a:ext cx="20332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Tính năng của trang:</a:t>
            </a:r>
            <a:b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Liệt kê toàn bộ lịch sử thông báo của từng thiết bị theo thời gian thực, bao gồm tất cả các thông số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B8221-96C2-4CC3-9ACE-7473E3AE4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562" y="1801885"/>
            <a:ext cx="9970491" cy="488892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C2F68D48-9E3F-4A2F-9068-EADFFBACBEE0}"/>
              </a:ext>
            </a:extLst>
          </p:cNvPr>
          <p:cNvGrpSpPr/>
          <p:nvPr/>
        </p:nvGrpSpPr>
        <p:grpSpPr>
          <a:xfrm>
            <a:off x="378475" y="3025237"/>
            <a:ext cx="1654754" cy="276999"/>
            <a:chOff x="0" y="3636414"/>
            <a:chExt cx="1654754" cy="27699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5BA323-D996-4796-954F-C820FA18FA48}"/>
                </a:ext>
              </a:extLst>
            </p:cNvPr>
            <p:cNvSpPr txBox="1"/>
            <p:nvPr/>
          </p:nvSpPr>
          <p:spPr>
            <a:xfrm>
              <a:off x="0" y="3636414"/>
              <a:ext cx="11996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Thanh menu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64DB1792-8772-4259-960C-95B4F87D0762}"/>
                </a:ext>
              </a:extLst>
            </p:cNvPr>
            <p:cNvSpPr/>
            <p:nvPr/>
          </p:nvSpPr>
          <p:spPr>
            <a:xfrm>
              <a:off x="1033969" y="3702924"/>
              <a:ext cx="620785" cy="14397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7BCEBD6-6D37-47F2-8EB7-E2FF38C4EF08}"/>
              </a:ext>
            </a:extLst>
          </p:cNvPr>
          <p:cNvGrpSpPr/>
          <p:nvPr/>
        </p:nvGrpSpPr>
        <p:grpSpPr>
          <a:xfrm>
            <a:off x="6491318" y="6390956"/>
            <a:ext cx="2199020" cy="400110"/>
            <a:chOff x="6519938" y="6177178"/>
            <a:chExt cx="1573157" cy="55399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374E487-E40D-444D-A93C-D8D727D476C2}"/>
                </a:ext>
              </a:extLst>
            </p:cNvPr>
            <p:cNvSpPr txBox="1"/>
            <p:nvPr/>
          </p:nvSpPr>
          <p:spPr>
            <a:xfrm>
              <a:off x="6519938" y="6177178"/>
              <a:ext cx="1149143" cy="553998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Nút thao tác ngôn ngữ, giao diện sáng/tối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C4C839D7-9451-409C-B1D4-ACA1B4533FFA}"/>
                </a:ext>
              </a:extLst>
            </p:cNvPr>
            <p:cNvSpPr/>
            <p:nvPr/>
          </p:nvSpPr>
          <p:spPr>
            <a:xfrm>
              <a:off x="7723830" y="6370480"/>
              <a:ext cx="369265" cy="16739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30D60E5-0BB0-44C6-86D2-78DEDDC7684F}"/>
              </a:ext>
            </a:extLst>
          </p:cNvPr>
          <p:cNvGrpSpPr/>
          <p:nvPr/>
        </p:nvGrpSpPr>
        <p:grpSpPr>
          <a:xfrm>
            <a:off x="4153181" y="1743364"/>
            <a:ext cx="1570151" cy="937438"/>
            <a:chOff x="5999934" y="1738904"/>
            <a:chExt cx="1570151" cy="8998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E281A4-8B45-4829-AEA0-CE65F950D25F}"/>
                </a:ext>
              </a:extLst>
            </p:cNvPr>
            <p:cNvSpPr txBox="1"/>
            <p:nvPr/>
          </p:nvSpPr>
          <p:spPr>
            <a:xfrm>
              <a:off x="5999934" y="1738904"/>
              <a:ext cx="1570151" cy="53176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Xem lịch sử thông báo của thiết bị theo khoảng thời gian cụ thể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ECE1FFC4-CF9A-4724-82A5-438F1B4F9673}"/>
                </a:ext>
              </a:extLst>
            </p:cNvPr>
            <p:cNvSpPr/>
            <p:nvPr/>
          </p:nvSpPr>
          <p:spPr>
            <a:xfrm>
              <a:off x="6684341" y="2380720"/>
              <a:ext cx="201336" cy="25799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CF1C3EA-1A21-43CD-80A1-C6F21A759C4F}"/>
              </a:ext>
            </a:extLst>
          </p:cNvPr>
          <p:cNvGrpSpPr/>
          <p:nvPr/>
        </p:nvGrpSpPr>
        <p:grpSpPr>
          <a:xfrm>
            <a:off x="6404232" y="1743364"/>
            <a:ext cx="1570151" cy="772060"/>
            <a:chOff x="5999934" y="1738904"/>
            <a:chExt cx="1570151" cy="741069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45E838-2DE0-4C1D-B03F-1719F8C86F53}"/>
                </a:ext>
              </a:extLst>
            </p:cNvPr>
            <p:cNvSpPr txBox="1"/>
            <p:nvPr/>
          </p:nvSpPr>
          <p:spPr>
            <a:xfrm>
              <a:off x="5999934" y="1738904"/>
              <a:ext cx="1570151" cy="384049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Lọc theo khu vực, tiêu chí khác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3" name="Arrow: Down 42">
              <a:extLst>
                <a:ext uri="{FF2B5EF4-FFF2-40B4-BE49-F238E27FC236}">
                  <a16:creationId xmlns:a16="http://schemas.microsoft.com/office/drawing/2014/main" id="{E4D99E81-B840-4315-B1A0-092FE619D4CE}"/>
                </a:ext>
              </a:extLst>
            </p:cNvPr>
            <p:cNvSpPr/>
            <p:nvPr/>
          </p:nvSpPr>
          <p:spPr>
            <a:xfrm>
              <a:off x="6684342" y="2221980"/>
              <a:ext cx="201336" cy="25799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0773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3808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Sử dụng hệ thống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0634F92-8C41-49CE-BBA9-9013C7F08DEE}"/>
              </a:ext>
            </a:extLst>
          </p:cNvPr>
          <p:cNvGrpSpPr/>
          <p:nvPr/>
        </p:nvGrpSpPr>
        <p:grpSpPr>
          <a:xfrm>
            <a:off x="179949" y="1801884"/>
            <a:ext cx="2747554" cy="2942476"/>
            <a:chOff x="317374" y="1801884"/>
            <a:chExt cx="2747554" cy="294247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5736A80-40BD-4A98-A90B-590D0F638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3384" y="1801884"/>
              <a:ext cx="2655534" cy="245344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7C2C5D1-1A6A-4F03-8608-9D27DAC16C12}"/>
                </a:ext>
              </a:extLst>
            </p:cNvPr>
            <p:cNvSpPr txBox="1"/>
            <p:nvPr/>
          </p:nvSpPr>
          <p:spPr>
            <a:xfrm>
              <a:off x="317374" y="4436583"/>
              <a:ext cx="2747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Truy cập landing page (IoT Hub)</a:t>
              </a:r>
              <a:endParaRPr kumimoji="0" 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A387DF4-9C94-4BF2-A9F7-91F825404803}"/>
              </a:ext>
            </a:extLst>
          </p:cNvPr>
          <p:cNvGrpSpPr/>
          <p:nvPr/>
        </p:nvGrpSpPr>
        <p:grpSpPr>
          <a:xfrm>
            <a:off x="3018918" y="1907655"/>
            <a:ext cx="2933765" cy="2836705"/>
            <a:chOff x="3739689" y="1907654"/>
            <a:chExt cx="2933765" cy="283670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44FE17B-D2A3-4BC0-959F-60499C8CF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84770" y="1907654"/>
              <a:ext cx="2443604" cy="2347678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B91995B-2B68-4E56-92E1-3E660B6D8BE1}"/>
                </a:ext>
              </a:extLst>
            </p:cNvPr>
            <p:cNvSpPr txBox="1"/>
            <p:nvPr/>
          </p:nvSpPr>
          <p:spPr>
            <a:xfrm>
              <a:off x="3739689" y="4436582"/>
              <a:ext cx="2933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Đăng nhập v</a:t>
              </a:r>
              <a:r>
                <a:rPr lang="en-US" sz="14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ới tài khoản đ</a:t>
              </a:r>
              <a:r>
                <a:rPr lang="vi-VN" sz="14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ư</a:t>
              </a:r>
              <a:r>
                <a:rPr lang="en-US" sz="14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ợc cấp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9A0AD35-A9A2-4297-8970-34D87BBB20B1}"/>
              </a:ext>
            </a:extLst>
          </p:cNvPr>
          <p:cNvGrpSpPr/>
          <p:nvPr/>
        </p:nvGrpSpPr>
        <p:grpSpPr>
          <a:xfrm>
            <a:off x="6044098" y="1907655"/>
            <a:ext cx="2933765" cy="2836705"/>
            <a:chOff x="6539492" y="1907655"/>
            <a:chExt cx="2933765" cy="283670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64C88A-DF5C-4E14-8E5D-3CCA20786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68560" y="1907655"/>
              <a:ext cx="2475631" cy="2347677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E7EE4FC-37E7-481E-8216-17FF0B4FA5B7}"/>
                </a:ext>
              </a:extLst>
            </p:cNvPr>
            <p:cNvSpPr txBox="1"/>
            <p:nvPr/>
          </p:nvSpPr>
          <p:spPr>
            <a:xfrm>
              <a:off x="6539492" y="4436583"/>
              <a:ext cx="2933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</a:t>
              </a:r>
              <a:r>
                <a:rPr lang="en-US" sz="14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ử dụng mã đăng nhập đ</a:t>
              </a:r>
              <a:r>
                <a:rPr lang="vi-VN" sz="14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ư</a:t>
              </a:r>
              <a:r>
                <a:rPr lang="en-US" sz="14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ợc cấp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439AED9-B81B-4FD3-B249-5EE98BC11C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8797" y="2557312"/>
            <a:ext cx="2117691" cy="104836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D733C3B-6A49-42B1-9959-933B888E08BD}"/>
              </a:ext>
            </a:extLst>
          </p:cNvPr>
          <p:cNvSpPr txBox="1"/>
          <p:nvPr/>
        </p:nvSpPr>
        <p:spPr>
          <a:xfrm>
            <a:off x="9180098" y="4436582"/>
            <a:ext cx="2655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ử dụng hệ thống bình th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ờng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406C255-541C-4171-84EE-FFF42F055F2F}"/>
              </a:ext>
            </a:extLst>
          </p:cNvPr>
          <p:cNvSpPr/>
          <p:nvPr/>
        </p:nvSpPr>
        <p:spPr>
          <a:xfrm>
            <a:off x="2778034" y="3028608"/>
            <a:ext cx="330926" cy="2215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28DCCF5C-B78C-435A-AA80-5EF0BC50E9D9}"/>
              </a:ext>
            </a:extLst>
          </p:cNvPr>
          <p:cNvSpPr/>
          <p:nvPr/>
        </p:nvSpPr>
        <p:spPr>
          <a:xfrm>
            <a:off x="5824921" y="3028607"/>
            <a:ext cx="330926" cy="2215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84CE75D5-623C-475D-B88D-00EA6C24BE14}"/>
              </a:ext>
            </a:extLst>
          </p:cNvPr>
          <p:cNvSpPr/>
          <p:nvPr/>
        </p:nvSpPr>
        <p:spPr>
          <a:xfrm>
            <a:off x="8933334" y="3022398"/>
            <a:ext cx="330926" cy="2215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792466-F308-4AD1-93A5-2A120F1CC7A9}"/>
              </a:ext>
            </a:extLst>
          </p:cNvPr>
          <p:cNvSpPr txBox="1"/>
          <p:nvPr/>
        </p:nvSpPr>
        <p:spPr>
          <a:xfrm>
            <a:off x="152154" y="5391255"/>
            <a:ext cx="102545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Sử dụng WiFi smv-staff để truy cập đ</a:t>
            </a:r>
            <a:r>
              <a:rPr lang="vi-VN" sz="1400" b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 b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ợc tới hệ thống</a:t>
            </a:r>
          </a:p>
          <a:p>
            <a:pPr marL="285750" lvl="0" indent="-285750" defTabSz="45720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Địa chỉ truy cập: </a:t>
            </a:r>
            <a:r>
              <a:rPr lang="en-US" sz="1400" b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8"/>
              </a:rPr>
              <a:t>https://172.16.9.183:3000/</a:t>
            </a:r>
            <a:endParaRPr lang="en-US" sz="1400" b="1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defTabSz="457200">
              <a:buFont typeface="Arial" panose="020B0604020202020204" pitchFamily="34" charset="0"/>
              <a:buChar char="•"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Tài khoản mặc định để truy cập: Email: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hlinkClick r:id="rId9"/>
              </a:rPr>
              <a:t>wrist.strap.operator@vn.sharp-world.com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, mã d</a:t>
            </a:r>
            <a:r>
              <a:rPr lang="en-US" sz="1400" b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ự phòng: autumn-rain-620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458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5024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Sử dụng hệ thống – Video thực tế (Trình chiếu slide để xem)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CB5D17-8640-4CFE-8576-2C586C6CD8C4}"/>
              </a:ext>
            </a:extLst>
          </p:cNvPr>
          <p:cNvSpPr txBox="1"/>
          <p:nvPr/>
        </p:nvSpPr>
        <p:spPr>
          <a:xfrm>
            <a:off x="0" y="1748891"/>
            <a:ext cx="9544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Video đ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ợc l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 tại: 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https://drive.google.com/file/d/1Gs870uiW9dbneQ2CR5U4FgwXlYd73y4z/view?usp=sharing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501580-7969-4E55-9D98-D3CC09FA91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2374" y="2184926"/>
            <a:ext cx="9387250" cy="435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94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44246A1-3E84-417F-BBF1-C6A416497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155" y="113020"/>
            <a:ext cx="1881074" cy="2682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025734-95FA-4C2E-9154-484B234E6A9C}"/>
              </a:ext>
            </a:extLst>
          </p:cNvPr>
          <p:cNvSpPr txBox="1">
            <a:spLocks/>
          </p:cNvSpPr>
          <p:nvPr/>
        </p:nvSpPr>
        <p:spPr>
          <a:xfrm>
            <a:off x="3018918" y="60026"/>
            <a:ext cx="6154163" cy="374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Báo cáo tiến độ thực hiện hệ thống giám sát ổ xả tĩnh điện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4880072-966B-4AC2-9629-08E0B6B0225C}"/>
              </a:ext>
            </a:extLst>
          </p:cNvPr>
          <p:cNvSpPr txBox="1">
            <a:spLocks/>
          </p:cNvSpPr>
          <p:nvPr/>
        </p:nvSpPr>
        <p:spPr>
          <a:xfrm>
            <a:off x="-1" y="884867"/>
            <a:ext cx="3984771" cy="413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Mô tả tổng quát dashboard giám sát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5FD56-BB63-42AD-8788-91437FA2C4A6}"/>
              </a:ext>
            </a:extLst>
          </p:cNvPr>
          <p:cNvSpPr txBox="1"/>
          <p:nvPr/>
        </p:nvSpPr>
        <p:spPr>
          <a:xfrm>
            <a:off x="0" y="1312856"/>
            <a:ext cx="5024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Sử dụng hệ thống – Video thực tế (Trình chiếu slide để xem)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9E0FC-AE8B-4A98-96B9-263A697ABBB9}"/>
              </a:ext>
            </a:extLst>
          </p:cNvPr>
          <p:cNvSpPr txBox="1"/>
          <p:nvPr/>
        </p:nvSpPr>
        <p:spPr>
          <a:xfrm>
            <a:off x="-1" y="1748891"/>
            <a:ext cx="10110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Video đ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ợc l</a:t>
            </a:r>
            <a:r>
              <a:rPr lang="vi-VN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ư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 tại: 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https://drive.google.com/file/d/1JlYu-Gcy1WZD5CZjC2hwY6MBPurnjt_i/view?usp=sharing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02FEA-217E-49D8-B252-BAE9820FB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591" y="2071287"/>
            <a:ext cx="9778816" cy="453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48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1717</Words>
  <Application>Microsoft Office PowerPoint</Application>
  <PresentationFormat>Widescreen</PresentationFormat>
  <Paragraphs>147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Segoe UI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THANH DUY TAN</dc:creator>
  <cp:lastModifiedBy>NGUYEN THANH DUY TAN</cp:lastModifiedBy>
  <cp:revision>170</cp:revision>
  <dcterms:created xsi:type="dcterms:W3CDTF">2025-05-20T08:50:17Z</dcterms:created>
  <dcterms:modified xsi:type="dcterms:W3CDTF">2025-06-21T09:56:44Z</dcterms:modified>
</cp:coreProperties>
</file>